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62" r:id="rId2"/>
    <p:sldId id="261" r:id="rId3"/>
    <p:sldId id="260" r:id="rId4"/>
    <p:sldId id="258" r:id="rId5"/>
    <p:sldId id="259" r:id="rId6"/>
    <p:sldId id="257" r:id="rId7"/>
    <p:sldId id="256" r:id="rId8"/>
    <p:sldId id="263" r:id="rId9"/>
    <p:sldId id="265" r:id="rId10"/>
    <p:sldId id="266" r:id="rId11"/>
    <p:sldId id="267" r:id="rId12"/>
    <p:sldId id="268" r:id="rId13"/>
    <p:sldId id="264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é Silva de Morais" userId="f406c2cd-edfc-4057-be10-75858098c663" providerId="ADAL" clId="{DD587564-A78D-4561-8E64-C12CF1DF9BAA}"/>
    <pc:docChg chg="modSld">
      <pc:chgData name="Josué Silva de Morais" userId="f406c2cd-edfc-4057-be10-75858098c663" providerId="ADAL" clId="{DD587564-A78D-4561-8E64-C12CF1DF9BAA}" dt="2026-05-28T10:43:29.891" v="0" actId="1036"/>
      <pc:docMkLst>
        <pc:docMk/>
      </pc:docMkLst>
      <pc:sldChg chg="modSp mod">
        <pc:chgData name="Josué Silva de Morais" userId="f406c2cd-edfc-4057-be10-75858098c663" providerId="ADAL" clId="{DD587564-A78D-4561-8E64-C12CF1DF9BAA}" dt="2026-05-28T10:43:29.891" v="0" actId="1036"/>
        <pc:sldMkLst>
          <pc:docMk/>
          <pc:sldMk cId="3039202334" sldId="261"/>
        </pc:sldMkLst>
        <pc:picChg chg="mod">
          <ac:chgData name="Josué Silva de Morais" userId="f406c2cd-edfc-4057-be10-75858098c663" providerId="ADAL" clId="{DD587564-A78D-4561-8E64-C12CF1DF9BAA}" dt="2026-05-28T10:43:29.891" v="0" actId="1036"/>
          <ac:picMkLst>
            <pc:docMk/>
            <pc:sldMk cId="3039202334" sldId="261"/>
            <ac:picMk id="5" creationId="{297A2E56-1B6B-289A-4236-6E5BA4F67C7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46EC5-421E-E991-B6A1-34FE1722B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CDC4AE-CF5E-C26B-98BC-660E486DDD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88CCFC-E692-4D18-A38F-055DAD21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88AE-B6E8-4787-8681-DECF62161BB5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D15889-FE7F-DDEE-45D1-56AA261FF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A4C7B2-4B2A-A0ED-9362-51841D731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14F0-B571-412E-8B61-7C578A1669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6438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90E97-C489-0869-1AEF-904C69127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748997-B9E6-EC37-EFDC-3436D509B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BDEAB3-EAC1-EFBE-4FA6-B223AA4CE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88AE-B6E8-4787-8681-DECF62161BB5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788C95-09AE-83A8-E20E-CA159780A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BDE243-9786-FCE6-0D5F-B39A4E3F9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14F0-B571-412E-8B61-7C578A1669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8689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E26FD-46F2-16B9-CEFF-7F29AD2BA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5D6961-B9D3-39EA-7C66-1E3F5953F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9E7085-4360-64BE-C73C-13AE3F29C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88AE-B6E8-4787-8681-DECF62161BB5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8ADC66-5186-A5A1-2AED-C28A0822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D74FF7-7581-45B2-958B-EFAB0D31D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14F0-B571-412E-8B61-7C578A1669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864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35F6AF-59D7-2BF2-C9EC-66316CA1C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9BF69B-FF37-D198-D662-276693977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2BF6F4E-54D4-249A-5105-08F677746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DF2E86-F6B0-C76B-81C5-7B2542B00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88AE-B6E8-4787-8681-DECF62161BB5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359339-8103-39C8-078C-2C2728D9E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97FC32-8403-F466-EFD6-F147E941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14F0-B571-412E-8B61-7C578A1669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2678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1CD08-3AEB-7D25-5DBA-BDF2CC5C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57F286-9066-307B-FE39-DDB643C1E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C61850A-7C39-84F7-CA03-0F9814085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980B889-0469-8A3C-4B0A-3F2939BE77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9366FA2-151E-3C9B-9D12-1CA5FE4BFC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E597B7F-2C54-785F-532E-E6F77ECA3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88AE-B6E8-4787-8681-DECF62161BB5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6B300BA-9510-3841-EAD2-4B76065FA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226C47E-238B-FA2D-731C-F70DE8D1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14F0-B571-412E-8B61-7C578A1669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19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E9CF51-BEC8-DF43-462F-892694C40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D4F156F-4D27-20D2-8444-C2414FDC0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88AE-B6E8-4787-8681-DECF62161BB5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E867ED-547D-3949-C577-6CA9CABE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3815A0-065D-A9D7-B42A-64CE1C1B0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14F0-B571-412E-8B61-7C578A1669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4288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955C31-9F34-8581-192E-C0C7C9E34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88AE-B6E8-4787-8681-DECF62161BB5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0A233FD-336C-F369-7F5C-A3366D1A8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847DDC-B4A1-28EE-9697-9D444E763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14F0-B571-412E-8B61-7C578A1669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0432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79BE6-C3C1-795E-7F92-C2D6A10B0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FAD25C-A35D-D292-F1ED-27F843BAC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7BF575B-2675-9438-59C6-07DFA24AC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C2A9CA-C0F7-306D-5D9D-A518434C8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88AE-B6E8-4787-8681-DECF62161BB5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303233-7C69-F079-4AAA-EA880AC3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534569-3264-2E8A-649B-0EA47A9E3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14F0-B571-412E-8B61-7C578A1669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289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47FCB-8C43-4648-BD40-93C0A384C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98A955D-7E6E-689D-115C-F3F161CA1C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ED16D0-AD68-0C09-4472-E5FF06015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2170B0-1540-6B02-5074-8D1A27E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88AE-B6E8-4787-8681-DECF62161BB5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4573B3-3FAC-2C6A-0252-E57EC12F0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CD0259-3F6F-D803-FED6-2F2AB3B37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14F0-B571-412E-8B61-7C578A1669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071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49DF0-7BF6-3CCD-D202-3FCCA3802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46EAAB4-29D2-A2F1-3D08-CB0F515D0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E8EDD8-DB8E-29E0-A73B-8F5E1F3FB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88AE-B6E8-4787-8681-DECF62161BB5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12518F-AF7D-20E9-B776-56C03AC7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83695A-490A-0A9A-6AC4-CD898F88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14F0-B571-412E-8B61-7C578A1669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9530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A493D3-C25B-7477-1DD4-C7F075B086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6E932F-942F-4FA9-32C5-27FDAD3EC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AB67FA-16D7-101C-AC3C-0A44FB3F5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88AE-B6E8-4787-8681-DECF62161BB5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A9EAD9-F969-999E-0C4B-0FEA50CD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79B945-689B-2A43-4707-0BAF6F17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14F0-B571-412E-8B61-7C578A1669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1157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3A84E85-53AA-7FD7-B545-5409A137D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F3C46F-8751-36F5-A1EB-BE877162C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8C13E7-3685-AB95-B1DD-A0FC53C5A3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C88AE-B6E8-4787-8681-DECF62161BB5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143937-6641-29E4-3019-BAA69175D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C7A019-B421-A103-EE32-FAE1AA673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A14F0-B571-412E-8B61-7C578A1669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290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0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EBE9A9-ED51-3443-934D-AD4F657E7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PWM – Modulação por largura de Pulso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98F7920C-F0D1-D07D-ED9E-B9A686CE78C9}"/>
              </a:ext>
            </a:extLst>
          </p:cNvPr>
          <p:cNvSpPr txBox="1">
            <a:spLocks/>
          </p:cNvSpPr>
          <p:nvPr/>
        </p:nvSpPr>
        <p:spPr>
          <a:xfrm>
            <a:off x="1113809" y="953037"/>
            <a:ext cx="4036333" cy="17098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Instrumentação Industrial II</a:t>
            </a:r>
          </a:p>
        </p:txBody>
      </p:sp>
      <p:grpSp>
        <p:nvGrpSpPr>
          <p:cNvPr id="26" name="Group 1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1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Diagrama&#10;&#10;Descrição gerada automaticamente">
            <a:extLst>
              <a:ext uri="{FF2B5EF4-FFF2-40B4-BE49-F238E27FC236}">
                <a16:creationId xmlns:a16="http://schemas.microsoft.com/office/drawing/2014/main" id="{645F3DD0-9BFD-EDB4-A06B-E43DDEA411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698" y="666728"/>
            <a:ext cx="4991589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892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93353-FCE5-EB6C-C961-3C336ACF3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 descr="Gráfico&#10;&#10;Descrição gerada automaticamente">
            <a:extLst>
              <a:ext uri="{FF2B5EF4-FFF2-40B4-BE49-F238E27FC236}">
                <a16:creationId xmlns:a16="http://schemas.microsoft.com/office/drawing/2014/main" id="{297A2E56-1B6B-289A-4236-6E5BA4F67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004" y="1834590"/>
            <a:ext cx="7545991" cy="4351338"/>
          </a:xfrm>
        </p:spPr>
      </p:pic>
    </p:spTree>
    <p:extLst>
      <p:ext uri="{BB962C8B-B14F-4D97-AF65-F5344CB8AC3E}">
        <p14:creationId xmlns:p14="http://schemas.microsoft.com/office/powerpoint/2010/main" val="3039202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88E53-7572-C59B-55F7-372B63B8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 descr="Tela de computador com texto preto sobre fundo branco&#10;&#10;Descrição gerada automaticamente com confiança média">
            <a:extLst>
              <a:ext uri="{FF2B5EF4-FFF2-40B4-BE49-F238E27FC236}">
                <a16:creationId xmlns:a16="http://schemas.microsoft.com/office/drawing/2014/main" id="{0276BF47-15E2-254A-77FB-3341AF095D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305844"/>
            <a:ext cx="4876800" cy="3390900"/>
          </a:xfrm>
        </p:spPr>
      </p:pic>
    </p:spTree>
    <p:extLst>
      <p:ext uri="{BB962C8B-B14F-4D97-AF65-F5344CB8AC3E}">
        <p14:creationId xmlns:p14="http://schemas.microsoft.com/office/powerpoint/2010/main" val="1702450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Diagrama&#10;&#10;Descrição gerada automaticamente">
            <a:extLst>
              <a:ext uri="{FF2B5EF4-FFF2-40B4-BE49-F238E27FC236}">
                <a16:creationId xmlns:a16="http://schemas.microsoft.com/office/drawing/2014/main" id="{77FA51BB-3A5F-2B8A-9510-F5743995E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309" y="385763"/>
            <a:ext cx="5558423" cy="608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42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Gráfico, Gráfico de linhas&#10;&#10;Descrição gerada automaticamente">
            <a:extLst>
              <a:ext uri="{FF2B5EF4-FFF2-40B4-BE49-F238E27FC236}">
                <a16:creationId xmlns:a16="http://schemas.microsoft.com/office/drawing/2014/main" id="{8F02E328-046A-60AC-0384-3594A68664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296246"/>
            <a:ext cx="10905066" cy="5179907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A587F815-F94A-F9B9-42B6-01ECDBA8B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731" y="176265"/>
            <a:ext cx="7858022" cy="662782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Modulação PWM senoidal</a:t>
            </a:r>
          </a:p>
        </p:txBody>
      </p:sp>
    </p:spTree>
    <p:extLst>
      <p:ext uri="{BB962C8B-B14F-4D97-AF65-F5344CB8AC3E}">
        <p14:creationId xmlns:p14="http://schemas.microsoft.com/office/powerpoint/2010/main" val="3448973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CA694E5-AC55-EC64-0DFB-B96C03F35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72" y="38100"/>
            <a:ext cx="10420350" cy="68199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1AE5AE3-4F4F-D49F-8D28-86E772F3B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2237" y="2231247"/>
            <a:ext cx="3545633" cy="1325563"/>
          </a:xfrm>
        </p:spPr>
        <p:txBody>
          <a:bodyPr/>
          <a:lstStyle/>
          <a:p>
            <a:r>
              <a:rPr lang="pt-BR" b="1" dirty="0">
                <a:solidFill>
                  <a:srgbClr val="FF0000"/>
                </a:solidFill>
              </a:rPr>
              <a:t>Modulação PWM senoidal</a:t>
            </a:r>
          </a:p>
        </p:txBody>
      </p:sp>
    </p:spTree>
    <p:extLst>
      <p:ext uri="{BB962C8B-B14F-4D97-AF65-F5344CB8AC3E}">
        <p14:creationId xmlns:p14="http://schemas.microsoft.com/office/powerpoint/2010/main" val="2614380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ssentos de avião vazios">
            <a:extLst>
              <a:ext uri="{FF2B5EF4-FFF2-40B4-BE49-F238E27FC236}">
                <a16:creationId xmlns:a16="http://schemas.microsoft.com/office/drawing/2014/main" id="{EA1234B0-C0A9-DB6C-874D-17F0B73FF8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13" b="9817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65E5E1-B8E1-481F-3BB2-63E150F0B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pt-BR" sz="5200">
                <a:solidFill>
                  <a:srgbClr val="FFFFFF"/>
                </a:solidFill>
              </a:rPr>
              <a:t>PWM com Duas Saídas Analógicas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88D5D5-AE41-A5D9-7D03-FD7B512B1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Instrumentação Industrial II</a:t>
            </a:r>
          </a:p>
        </p:txBody>
      </p:sp>
    </p:spTree>
    <p:extLst>
      <p:ext uri="{BB962C8B-B14F-4D97-AF65-F5344CB8AC3E}">
        <p14:creationId xmlns:p14="http://schemas.microsoft.com/office/powerpoint/2010/main" val="216590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4FBD55-8ACD-EF0E-A04A-FA031B330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Podemos gerar uma onda senoidal a partir de um sinal </a:t>
            </a:r>
            <a:r>
              <a:rPr lang="pt-BR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PWM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 resolução simplificada do problema é fazer incrementos lineares em um ANGULO que varia de 0 até 2π para, então, calcular o seno do ângulo. E a variação seria calculada considerando a frequência do sinal.</a:t>
            </a:r>
          </a:p>
          <a:p>
            <a:pPr algn="just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Para isso, temos a função </a:t>
            </a:r>
            <a:r>
              <a:rPr lang="pt-BR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, que advêm da biblioteca </a:t>
            </a:r>
            <a:r>
              <a:rPr lang="pt-BR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math.h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 que é capaz de calcular o seno de um ângulo. Contudo, existe um grande problema que é o atraso gerado por esta função.</a:t>
            </a:r>
          </a:p>
          <a:p>
            <a:pPr algn="just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De acordo com testes realizados, este atraso é bastante significativo. Tanto que os atrasos combinados de todas as chamadas da função foram capazes de aumentar o período em 1s. Ou seja, a frequência não podia ser acima de 1Hz.</a:t>
            </a:r>
          </a:p>
          <a:p>
            <a:pPr algn="just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Enfim, para contornar este obstáculo, podemos criar um vetor com todos os valores de seno já calculados ao invés de usar a função sin.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40814BF-DE8B-0F9A-C232-AA42F0669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991" y="251486"/>
            <a:ext cx="10515600" cy="1325563"/>
          </a:xfrm>
        </p:spPr>
        <p:txBody>
          <a:bodyPr/>
          <a:lstStyle/>
          <a:p>
            <a:r>
              <a:rPr lang="pt-BR"/>
              <a:t>Criando uma onda senoidal com PWM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1722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Gráfico&#10;&#10;Descrição gerada automaticamente">
            <a:extLst>
              <a:ext uri="{FF2B5EF4-FFF2-40B4-BE49-F238E27FC236}">
                <a16:creationId xmlns:a16="http://schemas.microsoft.com/office/drawing/2014/main" id="{C9A238F3-9156-8DC4-2729-81D0CABDA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358617"/>
            <a:ext cx="10905066" cy="414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905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BE407-7192-728F-6CCE-7D5A930DF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400" dirty="0">
                <a:latin typeface="Arial" panose="020B0604020202020204" pitchFamily="34" charset="0"/>
                <a:cs typeface="Arial" panose="020B0604020202020204" pitchFamily="34" charset="0"/>
              </a:rPr>
              <a:t>Programa em </a:t>
            </a:r>
            <a:r>
              <a:rPr lang="pt-BR" sz="4400" dirty="0" err="1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BR" sz="4400" dirty="0">
                <a:latin typeface="Arial" panose="020B0604020202020204" pitchFamily="34" charset="0"/>
                <a:cs typeface="Arial" panose="020B0604020202020204" pitchFamily="34" charset="0"/>
              </a:rPr>
              <a:t> que gera uma lista, com ângulos variando linearmente em 256 partes iguais indo de 0 a π/2.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A10E05-46CD-FB5D-A8EC-F5DD227F0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err="1">
                <a:solidFill>
                  <a:srgbClr val="2060A0"/>
                </a:solidFill>
                <a:effectLst/>
              </a:rPr>
              <a:t>import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 </a:t>
            </a:r>
            <a:r>
              <a:rPr lang="pt-BR" dirty="0" err="1">
                <a:solidFill>
                  <a:srgbClr val="008080"/>
                </a:solidFill>
                <a:effectLst/>
              </a:rPr>
              <a:t>math</a:t>
            </a:r>
            <a:br>
              <a:rPr lang="pt-BR" dirty="0"/>
            </a:br>
            <a:r>
              <a:rPr lang="pt-BR" dirty="0" err="1">
                <a:solidFill>
                  <a:srgbClr val="2060A0"/>
                </a:solidFill>
                <a:effectLst/>
              </a:rPr>
              <a:t>import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 </a:t>
            </a:r>
            <a:r>
              <a:rPr lang="pt-BR" b="0" i="0" dirty="0" err="1">
                <a:solidFill>
                  <a:srgbClr val="B6CDD2"/>
                </a:solidFill>
                <a:effectLst/>
                <a:latin typeface="Monaco"/>
              </a:rPr>
              <a:t>numpy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 </a:t>
            </a:r>
            <a:r>
              <a:rPr lang="pt-BR" dirty="0">
                <a:solidFill>
                  <a:srgbClr val="2060A0"/>
                </a:solidFill>
                <a:effectLst/>
              </a:rPr>
              <a:t>as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 </a:t>
            </a:r>
            <a:r>
              <a:rPr lang="pt-BR" b="0" i="0" dirty="0" err="1">
                <a:solidFill>
                  <a:srgbClr val="B6CDD2"/>
                </a:solidFill>
                <a:effectLst/>
                <a:latin typeface="Monaco"/>
              </a:rPr>
              <a:t>np</a:t>
            </a:r>
            <a:br>
              <a:rPr lang="pt-BR" dirty="0"/>
            </a:br>
            <a:br>
              <a:rPr lang="pt-BR" dirty="0"/>
            </a:br>
            <a:r>
              <a:rPr lang="pt-BR" b="0" i="0" dirty="0" err="1">
                <a:solidFill>
                  <a:srgbClr val="B6CDD2"/>
                </a:solidFill>
                <a:effectLst/>
                <a:latin typeface="Monaco"/>
              </a:rPr>
              <a:t>step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 </a:t>
            </a:r>
            <a:r>
              <a:rPr lang="pt-BR" dirty="0">
                <a:solidFill>
                  <a:srgbClr val="000000"/>
                </a:solidFill>
                <a:effectLst/>
              </a:rPr>
              <a:t>=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 </a:t>
            </a:r>
            <a:r>
              <a:rPr lang="pt-BR" dirty="0" err="1">
                <a:solidFill>
                  <a:srgbClr val="008080"/>
                </a:solidFill>
                <a:effectLst/>
              </a:rPr>
              <a:t>math</a:t>
            </a:r>
            <a:r>
              <a:rPr lang="pt-BR" b="0" i="0" dirty="0" err="1">
                <a:solidFill>
                  <a:srgbClr val="B6CDD2"/>
                </a:solidFill>
                <a:effectLst/>
                <a:latin typeface="Monaco"/>
              </a:rPr>
              <a:t>.</a:t>
            </a:r>
            <a:r>
              <a:rPr lang="pt-BR" dirty="0" err="1">
                <a:solidFill>
                  <a:srgbClr val="0080FF"/>
                </a:solidFill>
                <a:effectLst/>
              </a:rPr>
              <a:t>pi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/</a:t>
            </a:r>
            <a:r>
              <a:rPr lang="pt-BR" dirty="0">
                <a:solidFill>
                  <a:srgbClr val="000000"/>
                </a:solidFill>
                <a:effectLst/>
              </a:rPr>
              <a:t>(</a:t>
            </a:r>
            <a:r>
              <a:rPr lang="pt-BR" dirty="0">
                <a:solidFill>
                  <a:srgbClr val="0080A0"/>
                </a:solidFill>
                <a:effectLst/>
              </a:rPr>
              <a:t>2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*</a:t>
            </a:r>
            <a:r>
              <a:rPr lang="pt-BR" dirty="0">
                <a:solidFill>
                  <a:srgbClr val="0080A0"/>
                </a:solidFill>
                <a:effectLst/>
              </a:rPr>
              <a:t>255</a:t>
            </a:r>
            <a:r>
              <a:rPr lang="pt-BR" dirty="0">
                <a:solidFill>
                  <a:srgbClr val="000000"/>
                </a:solidFill>
                <a:effectLst/>
              </a:rPr>
              <a:t>)</a:t>
            </a:r>
            <a:br>
              <a:rPr lang="pt-BR" dirty="0"/>
            </a:br>
            <a:r>
              <a:rPr lang="pt-BR" b="0" i="0" dirty="0" err="1">
                <a:solidFill>
                  <a:srgbClr val="B6CDD2"/>
                </a:solidFill>
                <a:effectLst/>
                <a:latin typeface="Monaco"/>
              </a:rPr>
              <a:t>pwm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 </a:t>
            </a:r>
            <a:r>
              <a:rPr lang="pt-BR" dirty="0">
                <a:solidFill>
                  <a:srgbClr val="000000"/>
                </a:solidFill>
                <a:effectLst/>
              </a:rPr>
              <a:t>=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 </a:t>
            </a:r>
            <a:r>
              <a:rPr lang="pt-BR" dirty="0">
                <a:solidFill>
                  <a:srgbClr val="000000"/>
                </a:solidFill>
                <a:effectLst/>
              </a:rPr>
              <a:t>[]</a:t>
            </a:r>
            <a:br>
              <a:rPr lang="pt-BR" dirty="0"/>
            </a:br>
            <a:br>
              <a:rPr lang="pt-BR" dirty="0"/>
            </a:br>
            <a:r>
              <a:rPr lang="pt-BR" dirty="0">
                <a:solidFill>
                  <a:srgbClr val="2060A0"/>
                </a:solidFill>
                <a:effectLst/>
              </a:rPr>
              <a:t>for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 i </a:t>
            </a:r>
            <a:r>
              <a:rPr lang="pt-BR" dirty="0">
                <a:solidFill>
                  <a:srgbClr val="2060A0"/>
                </a:solidFill>
                <a:effectLst/>
              </a:rPr>
              <a:t>in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 </a:t>
            </a:r>
            <a:r>
              <a:rPr lang="pt-BR" b="0" i="0" dirty="0" err="1">
                <a:solidFill>
                  <a:srgbClr val="B6CDD2"/>
                </a:solidFill>
                <a:effectLst/>
                <a:latin typeface="Monaco"/>
              </a:rPr>
              <a:t>np.</a:t>
            </a:r>
            <a:r>
              <a:rPr lang="pt-BR" dirty="0" err="1">
                <a:solidFill>
                  <a:srgbClr val="0080FF"/>
                </a:solidFill>
                <a:effectLst/>
              </a:rPr>
              <a:t>arange</a:t>
            </a:r>
            <a:r>
              <a:rPr lang="pt-BR" dirty="0">
                <a:solidFill>
                  <a:srgbClr val="000000"/>
                </a:solidFill>
                <a:effectLst/>
              </a:rPr>
              <a:t>(</a:t>
            </a:r>
            <a:r>
              <a:rPr lang="pt-BR" dirty="0">
                <a:solidFill>
                  <a:srgbClr val="0080A0"/>
                </a:solidFill>
                <a:effectLst/>
              </a:rPr>
              <a:t>0</a:t>
            </a:r>
            <a:r>
              <a:rPr lang="pt-BR" dirty="0">
                <a:solidFill>
                  <a:srgbClr val="000000"/>
                </a:solidFill>
                <a:effectLst/>
              </a:rPr>
              <a:t>,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 </a:t>
            </a:r>
            <a:r>
              <a:rPr lang="pt-BR" dirty="0" err="1">
                <a:solidFill>
                  <a:srgbClr val="008080"/>
                </a:solidFill>
                <a:effectLst/>
              </a:rPr>
              <a:t>math</a:t>
            </a:r>
            <a:r>
              <a:rPr lang="pt-BR" b="0" i="0" dirty="0" err="1">
                <a:solidFill>
                  <a:srgbClr val="B6CDD2"/>
                </a:solidFill>
                <a:effectLst/>
                <a:latin typeface="Monaco"/>
              </a:rPr>
              <a:t>.</a:t>
            </a:r>
            <a:r>
              <a:rPr lang="pt-BR" dirty="0" err="1">
                <a:solidFill>
                  <a:srgbClr val="0080FF"/>
                </a:solidFill>
                <a:effectLst/>
              </a:rPr>
              <a:t>pi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/</a:t>
            </a:r>
            <a:r>
              <a:rPr lang="pt-BR" dirty="0">
                <a:solidFill>
                  <a:srgbClr val="0080A0"/>
                </a:solidFill>
                <a:effectLst/>
              </a:rPr>
              <a:t>2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+step</a:t>
            </a:r>
            <a:r>
              <a:rPr lang="pt-BR" dirty="0">
                <a:solidFill>
                  <a:srgbClr val="000000"/>
                </a:solidFill>
                <a:effectLst/>
              </a:rPr>
              <a:t>,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 </a:t>
            </a:r>
            <a:r>
              <a:rPr lang="pt-BR" b="0" i="0" dirty="0" err="1">
                <a:solidFill>
                  <a:srgbClr val="B6CDD2"/>
                </a:solidFill>
                <a:effectLst/>
                <a:latin typeface="Monaco"/>
              </a:rPr>
              <a:t>step</a:t>
            </a:r>
            <a:r>
              <a:rPr lang="pt-BR" dirty="0">
                <a:solidFill>
                  <a:srgbClr val="000000"/>
                </a:solidFill>
                <a:effectLst/>
              </a:rPr>
              <a:t>)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:</a:t>
            </a:r>
            <a:br>
              <a:rPr lang="pt-BR" dirty="0"/>
            </a:b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    </a:t>
            </a:r>
            <a:r>
              <a:rPr lang="pt-BR" b="0" i="0" dirty="0" err="1">
                <a:solidFill>
                  <a:srgbClr val="B6CDD2"/>
                </a:solidFill>
                <a:effectLst/>
                <a:latin typeface="Monaco"/>
              </a:rPr>
              <a:t>pwm.</a:t>
            </a:r>
            <a:r>
              <a:rPr lang="pt-BR" dirty="0" err="1">
                <a:solidFill>
                  <a:srgbClr val="0080FF"/>
                </a:solidFill>
                <a:effectLst/>
              </a:rPr>
              <a:t>append</a:t>
            </a:r>
            <a:r>
              <a:rPr lang="pt-BR" dirty="0">
                <a:solidFill>
                  <a:srgbClr val="000000"/>
                </a:solidFill>
                <a:effectLst/>
              </a:rPr>
              <a:t>(</a:t>
            </a:r>
            <a:r>
              <a:rPr lang="pt-BR" dirty="0">
                <a:solidFill>
                  <a:srgbClr val="2060A0"/>
                </a:solidFill>
                <a:effectLst/>
              </a:rPr>
              <a:t>round</a:t>
            </a:r>
            <a:r>
              <a:rPr lang="pt-BR" dirty="0">
                <a:solidFill>
                  <a:srgbClr val="000000"/>
                </a:solidFill>
                <a:effectLst/>
              </a:rPr>
              <a:t>(</a:t>
            </a:r>
            <a:r>
              <a:rPr lang="pt-BR" dirty="0" err="1">
                <a:solidFill>
                  <a:srgbClr val="008080"/>
                </a:solidFill>
                <a:effectLst/>
              </a:rPr>
              <a:t>math</a:t>
            </a:r>
            <a:r>
              <a:rPr lang="pt-BR" b="0" i="0" dirty="0" err="1">
                <a:solidFill>
                  <a:srgbClr val="B6CDD2"/>
                </a:solidFill>
                <a:effectLst/>
                <a:latin typeface="Monaco"/>
              </a:rPr>
              <a:t>.</a:t>
            </a:r>
            <a:r>
              <a:rPr lang="pt-BR" dirty="0" err="1">
                <a:solidFill>
                  <a:srgbClr val="0080FF"/>
                </a:solidFill>
                <a:effectLst/>
              </a:rPr>
              <a:t>sin</a:t>
            </a:r>
            <a:r>
              <a:rPr lang="pt-BR" dirty="0">
                <a:solidFill>
                  <a:srgbClr val="000000"/>
                </a:solidFill>
                <a:effectLst/>
              </a:rPr>
              <a:t>(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i</a:t>
            </a:r>
            <a:r>
              <a:rPr lang="pt-BR" dirty="0">
                <a:solidFill>
                  <a:srgbClr val="000000"/>
                </a:solidFill>
                <a:effectLst/>
              </a:rPr>
              <a:t>)</a:t>
            </a:r>
            <a:r>
              <a:rPr lang="pt-BR" b="0" i="0" dirty="0">
                <a:solidFill>
                  <a:srgbClr val="B6CDD2"/>
                </a:solidFill>
                <a:effectLst/>
                <a:latin typeface="Monaco"/>
              </a:rPr>
              <a:t>*</a:t>
            </a:r>
            <a:r>
              <a:rPr lang="pt-BR" dirty="0">
                <a:solidFill>
                  <a:srgbClr val="0080A0"/>
                </a:solidFill>
                <a:effectLst/>
              </a:rPr>
              <a:t>255</a:t>
            </a:r>
            <a:r>
              <a:rPr lang="pt-BR" dirty="0">
                <a:solidFill>
                  <a:srgbClr val="000000"/>
                </a:solidFill>
                <a:effectLst/>
              </a:rPr>
              <a:t>))</a:t>
            </a:r>
            <a:br>
              <a:rPr lang="pt-BR" dirty="0"/>
            </a:br>
            <a:r>
              <a:rPr lang="pt-BR" dirty="0">
                <a:solidFill>
                  <a:srgbClr val="2060A0"/>
                </a:solidFill>
                <a:effectLst/>
              </a:rPr>
              <a:t>print</a:t>
            </a:r>
            <a:r>
              <a:rPr lang="pt-BR" dirty="0">
                <a:solidFill>
                  <a:srgbClr val="000000"/>
                </a:solidFill>
                <a:effectLst/>
              </a:rPr>
              <a:t>(</a:t>
            </a:r>
            <a:r>
              <a:rPr lang="pt-BR" b="0" i="0" dirty="0" err="1">
                <a:solidFill>
                  <a:srgbClr val="B6CDD2"/>
                </a:solidFill>
                <a:effectLst/>
                <a:latin typeface="Monaco"/>
              </a:rPr>
              <a:t>pwm</a:t>
            </a:r>
            <a:r>
              <a:rPr lang="pt-BR" dirty="0">
                <a:solidFill>
                  <a:srgbClr val="000000"/>
                </a:solidFill>
                <a:effectLst/>
              </a:rPr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0182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2B81D-9C93-4E20-D18B-4225A718A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effectLst/>
                <a:latin typeface="Open Sans" panose="020B0606030504020204" pitchFamily="34" charset="0"/>
              </a:rPr>
              <a:t>Geração do sinal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81683D-BEF4-9340-EC64-D131F728C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272" y="1825625"/>
            <a:ext cx="11345662" cy="4351338"/>
          </a:xfrm>
        </p:spPr>
        <p:txBody>
          <a:bodyPr>
            <a:normAutofit/>
          </a:bodyPr>
          <a:lstStyle/>
          <a:p>
            <a:pPr algn="just"/>
            <a:r>
              <a:rPr lang="pt-BR" sz="20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Após resolver o problema mostrado no tópico anterior, podemos partir para o método de geração do sinal. Uma forma simples seria dividir a senoide em 4 partes: a subida de 0 a π/2; a descida de π/2 a π; a descida de π/2 a 3π/2; e a subida de 3π/2 até 2π.</a:t>
            </a:r>
          </a:p>
          <a:p>
            <a:pPr algn="just"/>
            <a:r>
              <a:rPr lang="pt-BR" sz="20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 cada parte, basta criar uma variável que é incrementada/decrementada linearmente, sendo que, em cada instante, esta variável é utilizada para acessar uma posição do vetor criado no tópico anterior.</a:t>
            </a:r>
          </a:p>
        </p:txBody>
      </p:sp>
    </p:spTree>
    <p:extLst>
      <p:ext uri="{BB962C8B-B14F-4D97-AF65-F5344CB8AC3E}">
        <p14:creationId xmlns:p14="http://schemas.microsoft.com/office/powerpoint/2010/main" val="1966529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00EB1-C376-AF2C-2DF6-42D7AC8BB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Sinal sem o filtro analógico</a:t>
            </a:r>
          </a:p>
        </p:txBody>
      </p:sp>
      <p:pic>
        <p:nvPicPr>
          <p:cNvPr id="10" name="Imagem 9" descr="Tela de computador com jogo&#10;&#10;Descrição gerada automaticamente com confiança média">
            <a:extLst>
              <a:ext uri="{FF2B5EF4-FFF2-40B4-BE49-F238E27FC236}">
                <a16:creationId xmlns:a16="http://schemas.microsoft.com/office/drawing/2014/main" id="{30369818-AA85-9385-04E1-29DACBB3B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544" y="1690688"/>
            <a:ext cx="73152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032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8A1E66-3D32-C178-A004-85B361AD6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Sinal filtrado</a:t>
            </a:r>
          </a:p>
        </p:txBody>
      </p:sp>
      <p:pic>
        <p:nvPicPr>
          <p:cNvPr id="4" name="Imagem 3" descr="Tela de computador com fundo verde&#10;&#10;Descrição gerada automaticamente com confiança média">
            <a:extLst>
              <a:ext uri="{FF2B5EF4-FFF2-40B4-BE49-F238E27FC236}">
                <a16:creationId xmlns:a16="http://schemas.microsoft.com/office/drawing/2014/main" id="{8D7208FE-DBFA-4798-0D88-DCA4F9985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095" y="1820927"/>
            <a:ext cx="731520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3443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396</Words>
  <Application>Microsoft Office PowerPoint</Application>
  <PresentationFormat>Widescreen</PresentationFormat>
  <Paragraphs>19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Monaco</vt:lpstr>
      <vt:lpstr>Open Sans</vt:lpstr>
      <vt:lpstr>Personalizar design</vt:lpstr>
      <vt:lpstr>PWM – Modulação por largura de Pulso</vt:lpstr>
      <vt:lpstr>Apresentação do PowerPoint</vt:lpstr>
      <vt:lpstr>Apresentação do PowerPoint</vt:lpstr>
      <vt:lpstr>Apresentação do PowerPoint</vt:lpstr>
      <vt:lpstr>Modulação PWM senoidal</vt:lpstr>
      <vt:lpstr>Modulação PWM senoidal</vt:lpstr>
      <vt:lpstr>PWM com Duas Saídas Analógicas</vt:lpstr>
      <vt:lpstr>Criando uma onda senoidal com PWM</vt:lpstr>
      <vt:lpstr>Apresentação do PowerPoint</vt:lpstr>
      <vt:lpstr>Programa em python que gera uma lista, com ângulos variando linearmente em 256 partes iguais indo de 0 a π/2.</vt:lpstr>
      <vt:lpstr>Geração do sinal</vt:lpstr>
      <vt:lpstr>Sinal sem o filtro analógico</vt:lpstr>
      <vt:lpstr>Sinal filtrado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PWM – Modulação por Largura de Pulso</dc:title>
  <dc:creator>Josué Silva de Morais</dc:creator>
  <cp:lastModifiedBy>Josué Morais</cp:lastModifiedBy>
  <cp:revision>1</cp:revision>
  <dcterms:created xsi:type="dcterms:W3CDTF">2024-03-07T16:43:41Z</dcterms:created>
  <dcterms:modified xsi:type="dcterms:W3CDTF">2026-05-28T10:43:33Z</dcterms:modified>
</cp:coreProperties>
</file>